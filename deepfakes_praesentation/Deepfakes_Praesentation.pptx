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Bekanntheit</c:v>
                </c:pt>
              </c:strCache>
            </c:strRef>
          </c:tx>
          <c:spPr>
            <a:solidFill>
              <a:srgbClr val="22D3EE">
                <a:alpha val="90000"/>
              </a:srgbClr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2D3EE"/>
                    </a:solidFill>
                    <a:latin typeface="Trebuchet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2019</c:v>
                  </c:pt>
                  <c:pt idx="1">
                    <c:v>2022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29</c:v>
                </c:pt>
                <c:pt idx="2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22D3EE"/>
                  </a:solidFill>
                  <a:latin typeface="Trebuchet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B0C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E1A"/>
        </a:solidFill>
        <a:ln>
          <a:noFill/>
        </a:ln>
        <a:effectLst/>
      </c:spPr>
    </c:plotArea>
    <c:plotVisOnly val="1"/>
    <c:dispBlanksAs val="span"/>
  </c:chart>
  <c:spPr>
    <a:solidFill>
      <a:srgbClr val="0A0E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FB5C7D"/>
          </a:solidFill>
          <a:ln/>
        </p:spPr>
      </p:sp>
      <p:sp>
        <p:nvSpPr>
          <p:cNvPr id="4" name="Shape 2"/>
          <p:cNvSpPr/>
          <p:nvPr/>
        </p:nvSpPr>
        <p:spPr>
          <a:xfrm>
            <a:off x="7800746" y="1125626"/>
            <a:ext cx="4423867" cy="4423867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94192" y="1719072"/>
            <a:ext cx="3236976" cy="3236976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87638" y="2312518"/>
            <a:ext cx="2050085" cy="2050085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59503" y="2884383"/>
            <a:ext cx="906353" cy="906353"/>
          </a:xfrm>
          <a:prstGeom prst="ellipse">
            <a:avLst/>
          </a:prstGeom>
          <a:solidFill>
            <a:srgbClr val="22D3EE">
              <a:alpha val="82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83201" y="3208081"/>
            <a:ext cx="258958" cy="25895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PRÄSENTATION · POLITISCHE BILDUNG · 2026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3504" y="182880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spc="100" kern="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DEEPFAKES</a:t>
            </a:r>
            <a:endParaRPr lang="en-US" sz="88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FB5C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Wenn der Schein trügt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0080" y="38221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Künstliche Intelligenz, Manipulation und die Frage nach der Wahrheit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7955280" cy="1143000"/>
          </a:xfrm>
          <a:prstGeom prst="roundRect">
            <a:avLst>
              <a:gd name="adj" fmla="val 8000"/>
            </a:avLst>
          </a:prstGeom>
          <a:solidFill>
            <a:srgbClr val="121A2E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572000"/>
            <a:ext cx="82296" cy="1143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4736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LEITFRAGE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49926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Gefährden Deepfakes unsere Fähigkeit, Wahrheit von Manipulation zu unterscheiden?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Vorgelegt von: [Dein Name]   ·   Fach: [Fach]   ·   [Datum]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AUFHÄNGER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 Auslöser: ein Artikel der bpb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Bundeszentrale für politische Bildung (bpb)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widmet Deepfakes ein eigenes Dossier: </a:t>
            </a:r>
            <a:pPr algn="l" indent="0" marL="0">
              <a:lnSpc>
                <a:spcPct val="112000"/>
              </a:lnSpc>
              <a:buNone/>
            </a:pPr>
            <a:r>
              <a:rPr lang="en-US" sz="1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„Wenn der Schein trügt – Deepfakes und die politische Realität“.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825496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wird immer besser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Qualität künstlich erzeugter Inhalte nimmt rasant zu – Fälschungen sind kaum noch zu erkennen.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04488"/>
            <a:ext cx="310896" cy="310896"/>
          </a:xfrm>
          <a:prstGeom prst="ellipse">
            <a:avLst/>
          </a:prstGeom>
          <a:solidFill>
            <a:srgbClr val="FB5C7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904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84962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Einfluss auf die Meinung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Manipulierte Videos und Töne können beeinflussen, was Menschen glauben und wählen.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928616"/>
            <a:ext cx="310896" cy="310896"/>
          </a:xfrm>
          <a:prstGeom prst="ellipse">
            <a:avLst/>
          </a:prstGeom>
          <a:solidFill>
            <a:srgbClr val="F6B73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928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4873752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ist betroffen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KI-Werkzeuge sind frei zugänglich – nicht mehr nur Experten können täuschend echte Fälschungen erstellen.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78040" y="1783080"/>
            <a:ext cx="4373575" cy="4160520"/>
          </a:xfrm>
          <a:prstGeom prst="roundRect">
            <a:avLst>
              <a:gd name="adj" fmla="val 2198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0" y="2103120"/>
            <a:ext cx="640080" cy="64008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3528" y="2258568"/>
            <a:ext cx="329184" cy="32918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498080" y="2971800"/>
            <a:ext cx="37334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Deepfakes machen Medien­manipulation schneller, einfacher, zugänglicher – und überzeugender als je zuvor.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7498080" y="5074920"/>
            <a:ext cx="3733495" cy="0"/>
          </a:xfrm>
          <a:prstGeom prst="line">
            <a:avLst/>
          </a:prstGeom>
          <a:noFill/>
          <a:ln w="12700">
            <a:solidFill>
              <a:srgbClr val="2632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0" y="5212080"/>
            <a:ext cx="3733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Sinngemäß nach: bpb – Dossier zu Deepfakes (2024)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0080" y="6437376"/>
            <a:ext cx="10911535" cy="0"/>
          </a:xfrm>
          <a:prstGeom prst="line">
            <a:avLst/>
          </a:prstGeom>
          <a:noFill/>
          <a:ln w="12700">
            <a:solidFill>
              <a:srgbClr val="26324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· WENN DER SCHEIN TRÜGT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GRUNDLAGEN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sind Deepfakes?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</a:t>
            </a:r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sind mit künstlicher Intelligenz erzeugte oder veränderte </a:t>
            </a:r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Bilder, Videos und Tonaufnahmen</a:t>
            </a:r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die eine reale Person so täuschend echt nachahmen, dass sie kaum von echten Aufnahmen zu unterscheiden sind.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001975" cy="1783080"/>
          </a:xfrm>
          <a:prstGeom prst="roundRect">
            <a:avLst>
              <a:gd name="adj" fmla="val 4615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0" y="1938528"/>
            <a:ext cx="2544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F6B7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WORTHERKUNFT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0" y="228600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pPr algn="l" indent="0" marL="0">
              <a:buNone/>
            </a:pPr>
            <a:r>
              <a:rPr lang="en-US" sz="1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(lernende KI)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0" y="2697480"/>
            <a:ext cx="2544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778240" y="2999232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B5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pPr algn="l" indent="0" marL="0">
              <a:buNone/>
            </a:pPr>
            <a:r>
              <a:rPr lang="en-US" sz="1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(Fälschung)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3423818" cy="2148840"/>
          </a:xfrm>
          <a:prstGeom prst="roundRect">
            <a:avLst>
              <a:gd name="adj" fmla="val 3830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4142232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183" y="4295303"/>
            <a:ext cx="260787" cy="26078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645920" y="4123944"/>
            <a:ext cx="2198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Bilder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14400" y="4818888"/>
            <a:ext cx="287517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Gesichter werden getauscht oder komplett erfunden – Menschen, die es nie gab.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383938" y="3886200"/>
            <a:ext cx="3423818" cy="2148840"/>
          </a:xfrm>
          <a:prstGeom prst="roundRect">
            <a:avLst>
              <a:gd name="adj" fmla="val 3830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39970" y="4142232"/>
            <a:ext cx="566928" cy="566928"/>
          </a:xfrm>
          <a:prstGeom prst="ellipse">
            <a:avLst/>
          </a:prstGeom>
          <a:solidFill>
            <a:srgbClr val="FB5C7D">
              <a:alpha val="16000"/>
            </a:srgbClr>
          </a:solidFill>
          <a:ln w="12700">
            <a:solidFill>
              <a:srgbClr val="FB5C7D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041" y="4295303"/>
            <a:ext cx="260787" cy="26078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89778" y="4123944"/>
            <a:ext cx="2198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Videos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658258" y="4818888"/>
            <a:ext cx="287517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Mimik und Lippen­bewegungen werden so verändert, dass Personen Dinge „sagen“, die sie nie gesagt haben.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127797" y="3886200"/>
            <a:ext cx="3423818" cy="2148840"/>
          </a:xfrm>
          <a:prstGeom prst="roundRect">
            <a:avLst>
              <a:gd name="adj" fmla="val 3830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383829" y="4142232"/>
            <a:ext cx="566928" cy="566928"/>
          </a:xfrm>
          <a:prstGeom prst="ellipse">
            <a:avLst/>
          </a:prstGeom>
          <a:solidFill>
            <a:srgbClr val="F6B73C">
              <a:alpha val="16000"/>
            </a:srgbClr>
          </a:solidFill>
          <a:ln w="12700">
            <a:solidFill>
              <a:srgbClr val="F6B73C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899" y="4295303"/>
            <a:ext cx="260787" cy="26078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33637" y="4123944"/>
            <a:ext cx="2198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8402117" y="4818888"/>
            <a:ext cx="287517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Stimmen werden geklont – schon wenige Sekunden Material genügen für eine täuschende Kopie.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40080" y="6437376"/>
            <a:ext cx="10911535" cy="0"/>
          </a:xfrm>
          <a:prstGeom prst="line">
            <a:avLst/>
          </a:prstGeom>
          <a:noFill/>
          <a:ln w="12700">
            <a:solidFill>
              <a:srgbClr val="26324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· WENN DER SCHEIN TRÜGT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Wie entstehen Deepfakes?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Kern arbeiten zwei KI-Systeme gegeneinander – ein </a:t>
            </a:r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„Generatives gegnerisches Netzwerk“ (GAN)</a:t>
            </a:r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Sie trainieren sich gegenseitig, bis die Fälschung perfekt wirkt.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3977640" cy="1783080"/>
          </a:xfrm>
          <a:prstGeom prst="roundRect">
            <a:avLst>
              <a:gd name="adj" fmla="val 5128"/>
            </a:avLst>
          </a:prstGeom>
          <a:solidFill>
            <a:srgbClr val="121A2E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990088"/>
            <a:ext cx="658368" cy="658368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317296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300837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GENERATOR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737360" y="33192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„Der Fälscher“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377647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Erzeugt neue, gefälschte Bilder und versucht, den Prüfer zu täuschen.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73975" y="2697480"/>
            <a:ext cx="3977640" cy="1783080"/>
          </a:xfrm>
          <a:prstGeom prst="roundRect">
            <a:avLst>
              <a:gd name="adj" fmla="val 5128"/>
            </a:avLst>
          </a:prstGeom>
          <a:solidFill>
            <a:srgbClr val="121A2E"/>
          </a:solidFill>
          <a:ln w="15875">
            <a:solidFill>
              <a:srgbClr val="FB5C7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866583" y="2990088"/>
            <a:ext cx="658368" cy="658368"/>
          </a:xfrm>
          <a:prstGeom prst="ellipse">
            <a:avLst/>
          </a:prstGeom>
          <a:solidFill>
            <a:srgbClr val="FB5C7D">
              <a:alpha val="18000"/>
            </a:srgbClr>
          </a:solidFill>
          <a:ln w="12700">
            <a:solidFill>
              <a:srgbClr val="FB5C7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463" y="317296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71255" y="300837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5C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DISKRIMINATOR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671255" y="33192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„Der Prüfer“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894015" y="377647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Vergleicht mit echten Daten und entlarvt die Fälschung – so lange es geht.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638648" y="3131820"/>
            <a:ext cx="914400" cy="914400"/>
          </a:xfrm>
          <a:prstGeom prst="ellipse">
            <a:avLst/>
          </a:prstGeom>
          <a:solidFill>
            <a:srgbClr val="1B2742"/>
          </a:solidFill>
          <a:ln w="15875">
            <a:solidFill>
              <a:srgbClr val="F6B73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04" y="3351276"/>
            <a:ext cx="475488" cy="47548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617720" y="3589020"/>
            <a:ext cx="10209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553048" y="3589020"/>
            <a:ext cx="10209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22" name="Text 17"/>
          <p:cNvSpPr/>
          <p:nvPr/>
        </p:nvSpPr>
        <p:spPr>
          <a:xfrm>
            <a:off x="4617720" y="4091940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6B7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Wettstreit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4892040"/>
            <a:ext cx="10911535" cy="1005840"/>
          </a:xfrm>
          <a:prstGeom prst="roundRect">
            <a:avLst>
              <a:gd name="adj" fmla="val 9091"/>
            </a:avLst>
          </a:prstGeom>
          <a:solidFill>
            <a:srgbClr val="9F1239">
              <a:alpha val="20000"/>
            </a:srgbClr>
          </a:solidFill>
          <a:ln w="12700">
            <a:solidFill>
              <a:srgbClr val="FB5C7D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14400" y="5138928"/>
            <a:ext cx="512064" cy="512064"/>
          </a:xfrm>
          <a:prstGeom prst="ellipse">
            <a:avLst/>
          </a:prstGeom>
          <a:solidFill>
            <a:srgbClr val="FB5C7D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276088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45920" y="4983480"/>
            <a:ext cx="9631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B5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Ergebnis: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jeder Runde wird die Fälschung besser. Heute reichen oft schon wenige Fotos oder Sekunden Tonmaterial – frei verfügbare Apps erledigen den Rest.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40080" y="6437376"/>
            <a:ext cx="10911535" cy="0"/>
          </a:xfrm>
          <a:prstGeom prst="line">
            <a:avLst/>
          </a:prstGeom>
          <a:noFill/>
          <a:ln w="12700">
            <a:solidFill>
              <a:srgbClr val="26324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· WENN DER SCHEIN TRÜGT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45720"/>
          </a:xfrm>
          <a:prstGeom prst="rect">
            <a:avLst/>
          </a:prstGeom>
          <a:solidFill>
            <a:srgbClr val="F6B73C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6B7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ZAHLEN &amp; FAKTEN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Ein Problem, das explodiert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487854" cy="2057400"/>
          </a:xfrm>
          <a:prstGeom prst="roundRect">
            <a:avLst>
              <a:gd name="adj" fmla="val 4444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2487854" cy="73152"/>
          </a:xfrm>
          <a:prstGeom prst="rect">
            <a:avLst/>
          </a:prstGeom>
          <a:solidFill>
            <a:srgbClr val="FB5C7D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167128"/>
            <a:ext cx="512064" cy="512064"/>
          </a:xfrm>
          <a:prstGeom prst="ellipse">
            <a:avLst/>
          </a:prstGeom>
          <a:solidFill>
            <a:srgbClr val="FB5C7D">
              <a:alpha val="16000"/>
            </a:srgbClr>
          </a:solidFill>
          <a:ln w="12700">
            <a:solidFill>
              <a:srgbClr val="FB5C7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0428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2743200"/>
            <a:ext cx="21586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B5C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+500 %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859536" y="3337560"/>
            <a:ext cx="20489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Deepfake-Vorfälle 2025 gegenüber dem Vorjahr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47974" y="1874520"/>
            <a:ext cx="2487854" cy="2057400"/>
          </a:xfrm>
          <a:prstGeom prst="roundRect">
            <a:avLst>
              <a:gd name="adj" fmla="val 4444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47974" y="1874520"/>
            <a:ext cx="2487854" cy="73152"/>
          </a:xfrm>
          <a:prstGeom prst="rect">
            <a:avLst/>
          </a:prstGeom>
          <a:solidFill>
            <a:srgbClr val="F6B73C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4006" y="2167128"/>
            <a:ext cx="512064" cy="512064"/>
          </a:xfrm>
          <a:prstGeom prst="ellipse">
            <a:avLst/>
          </a:prstGeom>
          <a:solidFill>
            <a:srgbClr val="F6B73C">
              <a:alpha val="16000"/>
            </a:srgbClr>
          </a:solidFill>
          <a:ln w="12700">
            <a:solidFill>
              <a:srgbClr val="F6B73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166" y="230428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49142" y="2743200"/>
            <a:ext cx="21586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B7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1,1 Mrd $</a:t>
            </a:r>
            <a:endParaRPr lang="en-US" sz="2500" dirty="0"/>
          </a:p>
        </p:txBody>
      </p:sp>
      <p:sp>
        <p:nvSpPr>
          <p:cNvPr id="16" name="Text 12"/>
          <p:cNvSpPr/>
          <p:nvPr/>
        </p:nvSpPr>
        <p:spPr>
          <a:xfrm>
            <a:off x="3667430" y="3337560"/>
            <a:ext cx="20489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weltweiter Schaden durch KI-gestützten Betrug allein 2025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55868" y="1874520"/>
            <a:ext cx="2487854" cy="2057400"/>
          </a:xfrm>
          <a:prstGeom prst="roundRect">
            <a:avLst>
              <a:gd name="adj" fmla="val 4444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55868" y="1874520"/>
            <a:ext cx="2487854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Shape 15"/>
          <p:cNvSpPr/>
          <p:nvPr/>
        </p:nvSpPr>
        <p:spPr>
          <a:xfrm>
            <a:off x="6511900" y="2167128"/>
            <a:ext cx="512064" cy="512064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060" y="230428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57036" y="2743200"/>
            <a:ext cx="21586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32 %</a:t>
            </a:r>
            <a:endParaRPr lang="en-US" sz="3300" dirty="0"/>
          </a:p>
        </p:txBody>
      </p:sp>
      <p:sp>
        <p:nvSpPr>
          <p:cNvPr id="22" name="Text 17"/>
          <p:cNvSpPr/>
          <p:nvPr/>
        </p:nvSpPr>
        <p:spPr>
          <a:xfrm>
            <a:off x="6475324" y="3337560"/>
            <a:ext cx="20489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Deepfake-Opfer stammen aus der Politik – die meistbetroffene Gruppe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063761" y="1874520"/>
            <a:ext cx="2487854" cy="2057400"/>
          </a:xfrm>
          <a:prstGeom prst="roundRect">
            <a:avLst>
              <a:gd name="adj" fmla="val 4444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063761" y="1874520"/>
            <a:ext cx="2487854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Shape 20"/>
          <p:cNvSpPr/>
          <p:nvPr/>
        </p:nvSpPr>
        <p:spPr>
          <a:xfrm>
            <a:off x="9319793" y="2167128"/>
            <a:ext cx="512064" cy="51206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6953" y="2304288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64929" y="2743200"/>
            <a:ext cx="21586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nur 34 %</a:t>
            </a:r>
            <a:endParaRPr lang="en-US" sz="3000" dirty="0"/>
          </a:p>
        </p:txBody>
      </p:sp>
      <p:sp>
        <p:nvSpPr>
          <p:cNvPr id="28" name="Text 22"/>
          <p:cNvSpPr/>
          <p:nvPr/>
        </p:nvSpPr>
        <p:spPr>
          <a:xfrm>
            <a:off x="9283217" y="3337560"/>
            <a:ext cx="20489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Menschen in Deutschland wissen überhaupt, was Deepfakes sind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64008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Bewusstsein wächst – aber langsam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40080" y="4462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Anteil der Verbraucher, die wissen, was ein Deepfake ist</a:t>
            </a:r>
            <a:endParaRPr lang="en-US" sz="115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548640" y="4754880"/>
          <a:ext cx="566928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2" name="Shape 25"/>
          <p:cNvSpPr/>
          <p:nvPr/>
        </p:nvSpPr>
        <p:spPr>
          <a:xfrm>
            <a:off x="6766560" y="4160520"/>
            <a:ext cx="4785055" cy="2148840"/>
          </a:xfrm>
          <a:prstGeom prst="roundRect">
            <a:avLst>
              <a:gd name="adj" fmla="val 4255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766560" y="4160520"/>
            <a:ext cx="82296" cy="2148840"/>
          </a:xfrm>
          <a:prstGeom prst="rect">
            <a:avLst/>
          </a:prstGeom>
          <a:solidFill>
            <a:srgbClr val="F6B73C"/>
          </a:solidFill>
          <a:ln/>
        </p:spPr>
      </p:sp>
      <p:sp>
        <p:nvSpPr>
          <p:cNvPr id="34" name="Text 27"/>
          <p:cNvSpPr/>
          <p:nvPr/>
        </p:nvSpPr>
        <p:spPr>
          <a:xfrm>
            <a:off x="7059168" y="4315968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6B7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DIE ZAHLEN BEDEUTEN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7059168" y="4681728"/>
            <a:ext cx="421812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Technik verbreitet sich schneller als das Wissen darüber. 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Während Fälschungen massenhaft entstehen, kann ein Großteil der Menschen sie nicht einordnen – genau das macht Deepfakes als Manipulations­werkzeug so wirksam.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640080" y="6437376"/>
            <a:ext cx="10911535" cy="0"/>
          </a:xfrm>
          <a:prstGeom prst="line">
            <a:avLst/>
          </a:prstGeom>
          <a:noFill/>
          <a:ln w="12700">
            <a:solidFill>
              <a:srgbClr val="26324F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· WENN DER SCHEIN TRÜGT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BEISPIELE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Vom Spaß bis zum Missbrauch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190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sind längst Alltag – manche sind harmlose Unterhaltung, andere verletzen Menschen massiv.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272888" cy="1783080"/>
          </a:xfrm>
          <a:prstGeom prst="roundRect">
            <a:avLst>
              <a:gd name="adj" fmla="val 4615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587752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183" y="2740823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569464"/>
            <a:ext cx="404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„Tom Cruise“ auf TikTok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14400" y="3264408"/>
            <a:ext cx="47242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Verblüffend echte Fake-Videos eines Schauspielers begeistern Millionen – und zeigen, wie gut die Technik schon ist.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78728" y="2331720"/>
            <a:ext cx="5272888" cy="1783080"/>
          </a:xfrm>
          <a:prstGeom prst="roundRect">
            <a:avLst>
              <a:gd name="adj" fmla="val 4615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2587752"/>
            <a:ext cx="566928" cy="566928"/>
          </a:xfrm>
          <a:prstGeom prst="ellipse">
            <a:avLst/>
          </a:prstGeom>
          <a:solidFill>
            <a:srgbClr val="F6B73C">
              <a:alpha val="16000"/>
            </a:srgbClr>
          </a:solidFill>
          <a:ln w="12700">
            <a:solidFill>
              <a:srgbClr val="F6B73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830" y="2740823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84568" y="2569464"/>
            <a:ext cx="404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 „Balenciaga-Papst“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553048" y="3264408"/>
            <a:ext cx="47242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KI-Bild des Papstes in weißer Designer-Daunenjacke geht viral – viele halten es für echt.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434840"/>
            <a:ext cx="5272888" cy="1783080"/>
          </a:xfrm>
          <a:prstGeom prst="roundRect">
            <a:avLst>
              <a:gd name="adj" fmla="val 4615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96112" y="4690872"/>
            <a:ext cx="566928" cy="566928"/>
          </a:xfrm>
          <a:prstGeom prst="ellipse">
            <a:avLst/>
          </a:prstGeom>
          <a:solidFill>
            <a:srgbClr val="FB5C7D">
              <a:alpha val="16000"/>
            </a:srgbClr>
          </a:solidFill>
          <a:ln w="12700">
            <a:solidFill>
              <a:srgbClr val="FB5C7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183" y="4843943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4672584"/>
            <a:ext cx="404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Gefälschte Politiker-Fotos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914400" y="5367528"/>
            <a:ext cx="47242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Erfundene Bilder, etwa eines tätowierten Kanzlers, verbreiten ein falsches Bild von Personen des öffentlichen Lebens.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78728" y="4434840"/>
            <a:ext cx="5272888" cy="1783080"/>
          </a:xfrm>
          <a:prstGeom prst="roundRect">
            <a:avLst>
              <a:gd name="adj" fmla="val 4615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34760" y="4690872"/>
            <a:ext cx="566928" cy="566928"/>
          </a:xfrm>
          <a:prstGeom prst="ellipse">
            <a:avLst/>
          </a:prstGeom>
          <a:solidFill>
            <a:srgbClr val="FB5C7D">
              <a:alpha val="16000"/>
            </a:srgbClr>
          </a:solidFill>
          <a:ln w="12700">
            <a:solidFill>
              <a:srgbClr val="FB5C7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830" y="4843943"/>
            <a:ext cx="260787" cy="2607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84568" y="4672584"/>
            <a:ext cx="404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Sexualisierte Fälschungen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553048" y="5367528"/>
            <a:ext cx="47242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Pornografische Deepfakes – etwa von Taylor Swift – treffen vor allem Frauen und richten großen Schaden an.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40080" y="6437376"/>
            <a:ext cx="10911535" cy="0"/>
          </a:xfrm>
          <a:prstGeom prst="line">
            <a:avLst/>
          </a:prstGeom>
          <a:noFill/>
          <a:ln w="12700">
            <a:solidFill>
              <a:srgbClr val="26324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· WENN DER SCHEIN TRÜGT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45720"/>
          </a:xfrm>
          <a:prstGeom prst="rect">
            <a:avLst/>
          </a:prstGeom>
          <a:solidFill>
            <a:srgbClr val="FB5C7D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B5C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POLITIK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Deepfakes im Wahlkampf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190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Weltweit tauchen vor Wahlen gefälschte Videos und Stimmen auf – mit dem Ziel, Wähler zu täuschen oder zu verunsichern.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272888" cy="1783080"/>
          </a:xfrm>
          <a:prstGeom prst="roundRect">
            <a:avLst>
              <a:gd name="adj" fmla="val 4615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624328"/>
            <a:ext cx="566928" cy="566928"/>
          </a:xfrm>
          <a:prstGeom prst="ellipse">
            <a:avLst/>
          </a:prstGeom>
          <a:solidFill>
            <a:srgbClr val="1B2742"/>
          </a:solidFill>
          <a:ln w="12700">
            <a:solidFill>
              <a:srgbClr val="FB5C7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77977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27632" y="2642616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Ukraine  </a:t>
            </a:r>
            <a:pPr algn="l" indent="0" marL="0">
              <a:buNone/>
            </a:pPr>
            <a:r>
              <a:rPr lang="en-US" sz="1300" b="1" dirty="0">
                <a:solidFill>
                  <a:srgbClr val="FB5C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32688" y="3291840"/>
            <a:ext cx="470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Fake-Video zeigt Präsident Selenskyj, wie er die Armee zur Kapitulation auffordert – mitten im Krieg.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78728" y="2331720"/>
            <a:ext cx="5272888" cy="1783080"/>
          </a:xfrm>
          <a:prstGeom prst="roundRect">
            <a:avLst>
              <a:gd name="adj" fmla="val 4615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53048" y="2624328"/>
            <a:ext cx="566928" cy="566928"/>
          </a:xfrm>
          <a:prstGeom prst="ellipse">
            <a:avLst/>
          </a:prstGeom>
          <a:solidFill>
            <a:srgbClr val="1B2742"/>
          </a:solidFill>
          <a:ln w="12700">
            <a:solidFill>
              <a:srgbClr val="FB5C7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496" y="277977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6280" y="2642616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Slowakei  </a:t>
            </a:r>
            <a:pPr algn="l" indent="0" marL="0">
              <a:buNone/>
            </a:pPr>
            <a:r>
              <a:rPr lang="en-US" sz="1300" b="1" dirty="0">
                <a:solidFill>
                  <a:srgbClr val="FB5C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2023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71336" y="3291840"/>
            <a:ext cx="470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 vor der Wahl kursiert ein Audio-Deepfake, in dem ein Kandidat angeblich Wahlbetrug plant.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4434840"/>
            <a:ext cx="5272888" cy="1783080"/>
          </a:xfrm>
          <a:prstGeom prst="roundRect">
            <a:avLst>
              <a:gd name="adj" fmla="val 4615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727448"/>
            <a:ext cx="566928" cy="566928"/>
          </a:xfrm>
          <a:prstGeom prst="ellipse">
            <a:avLst/>
          </a:prstGeom>
          <a:solidFill>
            <a:srgbClr val="1B2742"/>
          </a:solidFill>
          <a:ln w="12700">
            <a:solidFill>
              <a:srgbClr val="FB5C7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88289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27632" y="4745736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  </a:t>
            </a:r>
            <a:pPr algn="l" indent="0" marL="0">
              <a:buNone/>
            </a:pPr>
            <a:r>
              <a:rPr lang="en-US" sz="1300" b="1" dirty="0">
                <a:solidFill>
                  <a:srgbClr val="FB5C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932688" y="5394960"/>
            <a:ext cx="470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Tausende „Robocalls“ mit der geklonten Stimme von Joe Biden rufen Wähler auf, der Vorwahl fernzubleiben.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278728" y="4434840"/>
            <a:ext cx="5272888" cy="1783080"/>
          </a:xfrm>
          <a:prstGeom prst="roundRect">
            <a:avLst>
              <a:gd name="adj" fmla="val 4615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53048" y="4727448"/>
            <a:ext cx="566928" cy="566928"/>
          </a:xfrm>
          <a:prstGeom prst="ellipse">
            <a:avLst/>
          </a:prstGeom>
          <a:solidFill>
            <a:srgbClr val="1B2742"/>
          </a:solidFill>
          <a:ln w="12700">
            <a:solidFill>
              <a:srgbClr val="FB5C7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496" y="488289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6280" y="4745736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Türkei  </a:t>
            </a:r>
            <a:pPr algn="l" indent="0" marL="0">
              <a:buNone/>
            </a:pPr>
            <a:r>
              <a:rPr lang="en-US" sz="1300" b="1" dirty="0">
                <a:solidFill>
                  <a:srgbClr val="FB5C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2023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571336" y="5394960"/>
            <a:ext cx="470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manipuliertes Video bringt einen Gegenkandidaten fälschlich mit einer Terrororganisation in Verbindung.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640080" y="6437376"/>
            <a:ext cx="10911535" cy="0"/>
          </a:xfrm>
          <a:prstGeom prst="line">
            <a:avLst/>
          </a:prstGeom>
          <a:noFill/>
          <a:ln w="12700">
            <a:solidFill>
              <a:srgbClr val="26324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· WENN DER SCHEIN TRÜGT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45720"/>
          </a:xfrm>
          <a:prstGeom prst="rect">
            <a:avLst/>
          </a:prstGeom>
          <a:solidFill>
            <a:srgbClr val="F6B73C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6B7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VERBREITUNG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Soziale Medien als Brandbeschleuniger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eigentliche Problem ist nicht nur die Fälschung – sondern </a:t>
            </a:r>
            <a:pPr algn="l"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schnell sie sich verbreitet.</a:t>
            </a:r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sozialen Netzwerken erreichen Fakes in Minuten Millionen Menschen, lange bevor jemand sie überprüfen kann.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09598" y="3729838"/>
            <a:ext cx="2324405" cy="2324405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21408" y="4041648"/>
            <a:ext cx="1700784" cy="1700784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F6B7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3218" y="4353458"/>
            <a:ext cx="1077163" cy="1077163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33690" y="4653930"/>
            <a:ext cx="476220" cy="476220"/>
          </a:xfrm>
          <a:prstGeom prst="ellipse">
            <a:avLst/>
          </a:prstGeom>
          <a:solidFill>
            <a:srgbClr val="F6B73C">
              <a:alpha val="82000"/>
            </a:srgbClr>
          </a:solidFill>
          <a:ln w="15875">
            <a:solidFill>
              <a:srgbClr val="F6B7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03769" y="4824009"/>
            <a:ext cx="136063" cy="136063"/>
          </a:xfrm>
          <a:prstGeom prst="ellipse">
            <a:avLst/>
          </a:prstGeom>
          <a:solidFill>
            <a:srgbClr val="F6B73C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1783080"/>
            <a:ext cx="6065215" cy="1024128"/>
          </a:xfrm>
          <a:prstGeom prst="roundRect">
            <a:avLst>
              <a:gd name="adj" fmla="val 7143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24144" y="2020824"/>
            <a:ext cx="548640" cy="54864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2167128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46520" y="1947672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 schlägt Wahrheit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446520" y="2267712"/>
            <a:ext cx="4876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Inhalte verbreiten sich in Sekunden – ein Faktencheck kommt meist zu spät.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0" y="2971800"/>
            <a:ext cx="6065215" cy="1024128"/>
          </a:xfrm>
          <a:prstGeom prst="roundRect">
            <a:avLst>
              <a:gd name="adj" fmla="val 7143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24144" y="3209544"/>
            <a:ext cx="548640" cy="54864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335584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46520" y="3136392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Emotionen werden belohnt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6446520" y="3456432"/>
            <a:ext cx="4876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Algorithmen pushen, was empört oder schockt – ideal für Manipulation.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0" y="4160520"/>
            <a:ext cx="6065215" cy="1024128"/>
          </a:xfrm>
          <a:prstGeom prst="roundRect">
            <a:avLst>
              <a:gd name="adj" fmla="val 7143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724144" y="4398264"/>
            <a:ext cx="548640" cy="54864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4544568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46520" y="4325112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Teilen ohne Prüfen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6446520" y="4645152"/>
            <a:ext cx="4876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 leiten Inhalte weiter, ohne die Quelle zu hinterfragen.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486400" y="5349240"/>
            <a:ext cx="6065215" cy="1024128"/>
          </a:xfrm>
          <a:prstGeom prst="roundRect">
            <a:avLst>
              <a:gd name="adj" fmla="val 7143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724144" y="5586984"/>
            <a:ext cx="548640" cy="54864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5733288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446520" y="5513832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 erste Eindruck bleibt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6446520" y="5833872"/>
            <a:ext cx="4876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 eine spätere Richtigstellung erreicht nie alle – der Eindruck wirkt nach.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640080" y="6437376"/>
            <a:ext cx="10911535" cy="0"/>
          </a:xfrm>
          <a:prstGeom prst="line">
            <a:avLst/>
          </a:prstGeom>
          <a:noFill/>
          <a:ln w="12700">
            <a:solidFill>
              <a:srgbClr val="26324F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· WENN DER SCHEIN TRÜGT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45720"/>
          </a:xfrm>
          <a:prstGeom prst="rect">
            <a:avLst/>
          </a:prstGeom>
          <a:solidFill>
            <a:srgbClr val="FB5C7D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B5C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GESELLSCHAFT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größte Gefahr: verlorenes Vertrauen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31520" cy="731520"/>
          </a:xfrm>
          <a:prstGeom prst="ellipse">
            <a:avLst/>
          </a:prstGeom>
          <a:solidFill>
            <a:srgbClr val="FB5C7D">
              <a:alpha val="16000"/>
            </a:srgbClr>
          </a:solidFill>
          <a:ln w="12700">
            <a:solidFill>
              <a:srgbClr val="FB5C7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Wenn alles eine Fälschung sein könnte, glaubt man am Ende gar nichts mehr – auch nicht der Wahrheit.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3423818" cy="2331720"/>
          </a:xfrm>
          <a:prstGeom prst="roundRect">
            <a:avLst>
              <a:gd name="adj" fmla="val 3529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96112" y="3685032"/>
            <a:ext cx="566928" cy="566928"/>
          </a:xfrm>
          <a:prstGeom prst="ellipse">
            <a:avLst/>
          </a:prstGeom>
          <a:solidFill>
            <a:srgbClr val="FB5C7D">
              <a:alpha val="16000"/>
            </a:srgbClr>
          </a:solidFill>
          <a:ln w="12700">
            <a:solidFill>
              <a:srgbClr val="FB5C7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183" y="3838103"/>
            <a:ext cx="260787" cy="2607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3666744"/>
            <a:ext cx="2198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„Lügen-Dividende“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914400" y="4361688"/>
            <a:ext cx="287517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Beweise lassen sich einfach als „Deepfake“ abtun. Wer ertappt wird, behauptet, das Video sei gefälscht.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383938" y="3429000"/>
            <a:ext cx="3423818" cy="2331720"/>
          </a:xfrm>
          <a:prstGeom prst="roundRect">
            <a:avLst>
              <a:gd name="adj" fmla="val 3529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39970" y="3685032"/>
            <a:ext cx="566928" cy="566928"/>
          </a:xfrm>
          <a:prstGeom prst="ellipse">
            <a:avLst/>
          </a:prstGeom>
          <a:solidFill>
            <a:srgbClr val="F6B73C">
              <a:alpha val="16000"/>
            </a:srgbClr>
          </a:solidFill>
          <a:ln w="12700">
            <a:solidFill>
              <a:srgbClr val="F6B73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041" y="3838103"/>
            <a:ext cx="260787" cy="2607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89778" y="3666744"/>
            <a:ext cx="2198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Misstrauen gegen Medien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658258" y="4361688"/>
            <a:ext cx="287517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nicht mehr weiß, was echt ist, verliert das Vertrauen in seriöse Berichterstattung und Institutionen.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127797" y="3429000"/>
            <a:ext cx="3423818" cy="2331720"/>
          </a:xfrm>
          <a:prstGeom prst="roundRect">
            <a:avLst>
              <a:gd name="adj" fmla="val 3529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83829" y="3685032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6899" y="3838103"/>
            <a:ext cx="260787" cy="26078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33637" y="3666744"/>
            <a:ext cx="2198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Spaltung der Gesellschaft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8402117" y="4361688"/>
            <a:ext cx="287517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Gezielte Fälschungen verschärfen Konflikte und zerstören die gemeinsame Faktenbasis einer Demokratie.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40080" y="6437376"/>
            <a:ext cx="10911535" cy="0"/>
          </a:xfrm>
          <a:prstGeom prst="line">
            <a:avLst/>
          </a:prstGeom>
          <a:noFill/>
          <a:ln w="12700">
            <a:solidFill>
              <a:srgbClr val="26324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· WENN DER SCHEIN TRÜGT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B5C7D"/>
          </a:solidFill>
          <a:ln/>
        </p:spPr>
      </p:sp>
      <p:sp>
        <p:nvSpPr>
          <p:cNvPr id="3" name="Shape 1"/>
          <p:cNvSpPr/>
          <p:nvPr/>
        </p:nvSpPr>
        <p:spPr>
          <a:xfrm>
            <a:off x="8549640" y="3520440"/>
            <a:ext cx="3749040" cy="374904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4023360"/>
            <a:ext cx="2743200" cy="274320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FB5C7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55480" y="4526280"/>
            <a:ext cx="1737360" cy="173736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40112" y="5010912"/>
            <a:ext cx="768096" cy="768096"/>
          </a:xfrm>
          <a:prstGeom prst="ellipse">
            <a:avLst/>
          </a:prstGeom>
          <a:solidFill>
            <a:srgbClr val="FB5C7D">
              <a:alpha val="82000"/>
            </a:srgbClr>
          </a:solidFill>
          <a:ln w="15875">
            <a:solidFill>
              <a:srgbClr val="FB5C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14432" y="5285232"/>
            <a:ext cx="219456" cy="219456"/>
          </a:xfrm>
          <a:prstGeom prst="ellipse">
            <a:avLst/>
          </a:prstGeom>
          <a:solidFill>
            <a:srgbClr val="FB5C7D"/>
          </a:solidFill>
          <a:ln/>
        </p:spPr>
      </p:sp>
      <p:sp>
        <p:nvSpPr>
          <p:cNvPr id="8" name="Shape 6"/>
          <p:cNvSpPr/>
          <p:nvPr/>
        </p:nvSpPr>
        <p:spPr>
          <a:xfrm>
            <a:off x="246888" y="155448"/>
            <a:ext cx="2249424" cy="2249424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457200"/>
            <a:ext cx="1645920" cy="1645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758952"/>
            <a:ext cx="1042416" cy="1042416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" y="1049731"/>
            <a:ext cx="460858" cy="460858"/>
          </a:xfrm>
          <a:prstGeom prst="ellipse">
            <a:avLst/>
          </a:prstGeom>
          <a:solidFill>
            <a:srgbClr val="22D3EE">
              <a:alpha val="82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05763" y="1214323"/>
            <a:ext cx="131674" cy="13167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574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KRITISCHE FRAGESTELLUNG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2651760"/>
            <a:ext cx="99971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800" b="1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Gefährden Deepfakes unsere Fähigkeit,</a:t>
            </a:r>
            <a:endParaRPr lang="en-US" sz="38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800" b="1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Wahrheit von Manipulation zu unterscheiden?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5638648" y="4709160"/>
            <a:ext cx="914400" cy="36576"/>
          </a:xfrm>
          <a:prstGeom prst="rect">
            <a:avLst/>
          </a:prstGeom>
          <a:solidFill>
            <a:srgbClr val="FB5C7D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89204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Frage begleitet uns durch das gesamte Referat.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ERKENNUNG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Woran erkennt man eine Fälschung?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190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 verraten sich viele Deepfakes durch kleine Fehler. Es lohnt sich, genau hinzusehen – auch wenn die Technik schnell besser wird.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423818" cy="1207008"/>
          </a:xfrm>
          <a:prstGeom prst="roundRect">
            <a:avLst>
              <a:gd name="adj" fmla="val 6061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523744"/>
            <a:ext cx="475488" cy="475488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65176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505456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Augen &amp; Blinzeln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77824" y="30175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Unnatürliches oder fehlendes Blinzeln, starrer Blick, seltsame Spiegelungen in den Augen.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83938" y="2286000"/>
            <a:ext cx="3423818" cy="1207008"/>
          </a:xfrm>
          <a:prstGeom prst="roundRect">
            <a:avLst>
              <a:gd name="adj" fmla="val 6061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3394" y="2523744"/>
            <a:ext cx="475488" cy="475488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410" y="265176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06898" y="2505456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Licht &amp; Schatten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621682" y="30175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Beleuchtung und Schatten passen nicht zusammen oder wirken unlogisch.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27797" y="2286000"/>
            <a:ext cx="3423818" cy="1207008"/>
          </a:xfrm>
          <a:prstGeom prst="roundRect">
            <a:avLst>
              <a:gd name="adj" fmla="val 6061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47253" y="2523744"/>
            <a:ext cx="475488" cy="475488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269" y="265176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50757" y="2505456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Mimik &amp; Haut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65541" y="30175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Maskenhafte, starre Gesichtszüge; zu glatte Haut ohne feine Muskelbewegungen.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3749040"/>
            <a:ext cx="3423818" cy="1207008"/>
          </a:xfrm>
          <a:prstGeom prst="roundRect">
            <a:avLst>
              <a:gd name="adj" fmla="val 6061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59536" y="3986784"/>
            <a:ext cx="475488" cy="475488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114800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3968496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Ränder &amp; Übergänge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877824" y="44805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Flackern oder Unschärfe an Haaransatz, Ohren und Hals.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383938" y="3749040"/>
            <a:ext cx="3423818" cy="1207008"/>
          </a:xfrm>
          <a:prstGeom prst="roundRect">
            <a:avLst>
              <a:gd name="adj" fmla="val 6061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3394" y="3986784"/>
            <a:ext cx="475488" cy="475488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410" y="4114800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06898" y="3968496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Stimme &amp; Lippen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4621682" y="44805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Lippen passen nicht zum Ton; die Stimme klingt monoton oder „roboterhaft“.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127797" y="3749040"/>
            <a:ext cx="3423818" cy="1207008"/>
          </a:xfrm>
          <a:prstGeom prst="roundRect">
            <a:avLst>
              <a:gd name="adj" fmla="val 6061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47253" y="3986784"/>
            <a:ext cx="475488" cy="475488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269" y="4114800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50757" y="3968496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Quelle &amp; Kontext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8365541" y="44805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Woher stammt das Material? Gibt es seriöse Quellen, die es bestätigen?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640080" y="6437376"/>
            <a:ext cx="10911535" cy="0"/>
          </a:xfrm>
          <a:prstGeom prst="line">
            <a:avLst/>
          </a:prstGeom>
          <a:noFill/>
          <a:ln w="12700">
            <a:solidFill>
              <a:srgbClr val="26324F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· WENN DER SCHEIN TRÜGT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LÖSUNGEN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hilft gegen Deepfakes?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190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 Deepfakes gibt es kein einzelnes Mittel – es braucht Technik, Recht und vor allem mündige Menschen.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272888" cy="1783080"/>
          </a:xfrm>
          <a:prstGeom prst="roundRect">
            <a:avLst>
              <a:gd name="adj" fmla="val 4615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587752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183" y="2740823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569464"/>
            <a:ext cx="404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Recht &amp; Regeln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14400" y="3264408"/>
            <a:ext cx="47242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Gesetze wie der EU-AI-Act schreiben Kennzeichnungs­pflichten vor und stellen Missbrauch unter Strafe.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78728" y="2331720"/>
            <a:ext cx="5272888" cy="1783080"/>
          </a:xfrm>
          <a:prstGeom prst="roundRect">
            <a:avLst>
              <a:gd name="adj" fmla="val 4615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2587752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830" y="2740823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84568" y="2569464"/>
            <a:ext cx="404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Technik &amp; Erkennung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553048" y="3264408"/>
            <a:ext cx="47242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KI-Detektoren, digitale Wasserzeichen und Herkunfts-Nachweise machen Fälschungen sichtbar.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434840"/>
            <a:ext cx="5272888" cy="1783080"/>
          </a:xfrm>
          <a:prstGeom prst="roundRect">
            <a:avLst>
              <a:gd name="adj" fmla="val 4615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96112" y="4690872"/>
            <a:ext cx="566928" cy="566928"/>
          </a:xfrm>
          <a:prstGeom prst="ellipse">
            <a:avLst/>
          </a:prstGeom>
          <a:solidFill>
            <a:srgbClr val="F6B73C">
              <a:alpha val="16000"/>
            </a:srgbClr>
          </a:solidFill>
          <a:ln w="12700">
            <a:solidFill>
              <a:srgbClr val="F6B73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183" y="4843943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4672584"/>
            <a:ext cx="404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Medienkompetenz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914400" y="5367528"/>
            <a:ext cx="47242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Bildung hilft, Inhalte einzuordnen, Quellen zu prüfen und nicht blind zu teilen.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78728" y="4434840"/>
            <a:ext cx="5272888" cy="1783080"/>
          </a:xfrm>
          <a:prstGeom prst="roundRect">
            <a:avLst>
              <a:gd name="adj" fmla="val 4615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34760" y="4690872"/>
            <a:ext cx="566928" cy="566928"/>
          </a:xfrm>
          <a:prstGeom prst="ellipse">
            <a:avLst/>
          </a:prstGeom>
          <a:solidFill>
            <a:srgbClr val="FB5C7D">
              <a:alpha val="16000"/>
            </a:srgbClr>
          </a:solidFill>
          <a:ln w="12700">
            <a:solidFill>
              <a:srgbClr val="FB5C7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830" y="4843943"/>
            <a:ext cx="260787" cy="2607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84568" y="4672584"/>
            <a:ext cx="404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Kritisch hinterfragen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553048" y="5367528"/>
            <a:ext cx="47242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Innehalten, bevor man glaubt oder teilt: Wer sagt das? Woher kommt es? Wem nützt es?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40080" y="6437376"/>
            <a:ext cx="10911535" cy="0"/>
          </a:xfrm>
          <a:prstGeom prst="line">
            <a:avLst/>
          </a:prstGeom>
          <a:noFill/>
          <a:ln w="12700">
            <a:solidFill>
              <a:srgbClr val="26324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· WENN DER SCHEIN TRÜGT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FB5C7D"/>
          </a:solidFill>
          <a:ln/>
        </p:spPr>
      </p:sp>
      <p:sp>
        <p:nvSpPr>
          <p:cNvPr id="4" name="Shape 2"/>
          <p:cNvSpPr/>
          <p:nvPr/>
        </p:nvSpPr>
        <p:spPr>
          <a:xfrm>
            <a:off x="8739378" y="235458"/>
            <a:ext cx="3186684" cy="3186684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66860" y="662940"/>
            <a:ext cx="2331720" cy="23317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94342" y="1090422"/>
            <a:ext cx="1476756" cy="1476756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06279" y="1502359"/>
            <a:ext cx="652882" cy="652882"/>
          </a:xfrm>
          <a:prstGeom prst="ellipse">
            <a:avLst/>
          </a:prstGeom>
          <a:solidFill>
            <a:srgbClr val="22D3EE">
              <a:alpha val="82000"/>
            </a:srgbClr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39451" y="1735531"/>
            <a:ext cx="186538" cy="18653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4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FAZIT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Sehen ist nicht mehr Glauben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10911535" cy="1417320"/>
          </a:xfrm>
          <a:prstGeom prst="roundRect">
            <a:avLst>
              <a:gd name="adj" fmla="val 6452"/>
            </a:avLst>
          </a:prstGeom>
          <a:solidFill>
            <a:srgbClr val="121A2E"/>
          </a:solidFill>
          <a:ln w="15875">
            <a:solidFill>
              <a:srgbClr val="0E749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14600"/>
            <a:ext cx="91440" cy="14173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651760"/>
            <a:ext cx="100885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Digitale Bilder, Videos und Töne müssen wir heute kritischer hinterfragen als je zuvor.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3423818" cy="1691640"/>
          </a:xfrm>
          <a:prstGeom prst="roundRect">
            <a:avLst>
              <a:gd name="adj" fmla="val 4865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462272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183" y="4615343"/>
            <a:ext cx="260787" cy="26078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4443984"/>
            <a:ext cx="2198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Technik ist mächtig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914400" y="5138928"/>
            <a:ext cx="287517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Fälschungen werden so gut, dass man sie mit bloßem Auge kaum noch erkennt.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383938" y="4206240"/>
            <a:ext cx="3423818" cy="1691640"/>
          </a:xfrm>
          <a:prstGeom prst="roundRect">
            <a:avLst>
              <a:gd name="adj" fmla="val 4865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39970" y="4462272"/>
            <a:ext cx="566928" cy="566928"/>
          </a:xfrm>
          <a:prstGeom prst="ellipse">
            <a:avLst/>
          </a:prstGeom>
          <a:solidFill>
            <a:srgbClr val="FB5C7D">
              <a:alpha val="16000"/>
            </a:srgbClr>
          </a:solidFill>
          <a:ln w="12700">
            <a:solidFill>
              <a:srgbClr val="FB5C7D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041" y="4615343"/>
            <a:ext cx="260787" cy="260787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89778" y="4443984"/>
            <a:ext cx="2198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Demokratie in Gefahr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4658258" y="5138928"/>
            <a:ext cx="287517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Manipulierte Inhalte untergraben Vertrauen, Wahlen und gemeinsame Fakten.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127797" y="4206240"/>
            <a:ext cx="3423818" cy="1691640"/>
          </a:xfrm>
          <a:prstGeom prst="roundRect">
            <a:avLst>
              <a:gd name="adj" fmla="val 4865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383829" y="4462272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899" y="4615343"/>
            <a:ext cx="260787" cy="26078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133637" y="4443984"/>
            <a:ext cx="2198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 entscheiden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8402117" y="5138928"/>
            <a:ext cx="287517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Kritisches Denken und Medienkompetenz sind unser wirksamster Schutz.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45720"/>
          </a:xfrm>
          <a:prstGeom prst="rect">
            <a:avLst/>
          </a:prstGeom>
          <a:solidFill>
            <a:srgbClr val="9FB0C7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57200"/>
            <a:ext cx="10490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FB0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QUELLEN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Quellen &amp; weiterführende Links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55648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901952"/>
            <a:ext cx="457200" cy="45720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20824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74520"/>
            <a:ext cx="9814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Bundeszentrale für politische Bildung (bpb)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2167128"/>
            <a:ext cx="9814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„Wenn der Schein trügt – Deepfakes und die politische Realität“ · bpb.de/lernen/bewegtbild-und-politische-bildung/551578/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596896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2743200"/>
            <a:ext cx="457200" cy="45720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86207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715768"/>
            <a:ext cx="9814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bpb – Politische Manipulation und Desinformation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508760" y="3008376"/>
            <a:ext cx="9814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Dossier-Beitrag · bpb.de/lernen/bewegtbild-und-politische-bildung/556305/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3438144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59536" y="3584448"/>
            <a:ext cx="457200" cy="45720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70332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557016"/>
            <a:ext cx="9814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Konrad-Adenauer-Stiftung (KAS)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08760" y="3849624"/>
            <a:ext cx="9814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„Der Einfluss von Deep Fakes auf Wahlen“ · kas.de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279392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59536" y="4425696"/>
            <a:ext cx="457200" cy="45720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54456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398264"/>
            <a:ext cx="9814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ESET / Computer Weekly / klicksafe.eu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508760" y="4690872"/>
            <a:ext cx="9814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Funktionsweise (GAN), Beispiele und Erkennungsmerkmale von Deepfakes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40080" y="5120640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12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59536" y="5266944"/>
            <a:ext cx="457200" cy="45720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5385816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5239512"/>
            <a:ext cx="9814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iProov &amp; Branchenberichte 2025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508760" y="5532120"/>
            <a:ext cx="9814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Statistiken zu Anstieg, Schäden und Bekanntheit von Deepfakes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Hinweis: Zahlen geben den Stand der genannten Quellen (2024/2025) wieder und können sich verändern.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40080" y="6437376"/>
            <a:ext cx="10911535" cy="0"/>
          </a:xfrm>
          <a:prstGeom prst="line">
            <a:avLst/>
          </a:prstGeom>
          <a:noFill/>
          <a:ln w="12700">
            <a:solidFill>
              <a:srgbClr val="26324F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· WENN DER SCHEIN TRÜGT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Deepfakes – Wenn der Schein trügt</dc:title>
  <dc:subject>PptxGenJS Presentation</dc:subject>
  <dc:creator>Referat politische Bildung</dc:creator>
  <cp:lastModifiedBy>Referat politische Bildung</cp:lastModifiedBy>
  <cp:revision>1</cp:revision>
  <dcterms:created xsi:type="dcterms:W3CDTF">2026-06-09T13:10:48Z</dcterms:created>
  <dcterms:modified xsi:type="dcterms:W3CDTF">2026-06-09T13:10:48Z</dcterms:modified>
</cp:coreProperties>
</file>